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4" r:id="rId3"/>
    <p:sldId id="265" r:id="rId4"/>
    <p:sldId id="266" r:id="rId5"/>
    <p:sldId id="267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96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B7D2-991F-479D-A210-CA4ACA4B578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3EC18-EB0B-4C6A-AEF6-C3898BF0E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57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B7D2-991F-479D-A210-CA4ACA4B578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3EC18-EB0B-4C6A-AEF6-C3898BF0E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45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B7D2-991F-479D-A210-CA4ACA4B578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3EC18-EB0B-4C6A-AEF6-C3898BF0E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29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B7D2-991F-479D-A210-CA4ACA4B578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3EC18-EB0B-4C6A-AEF6-C3898BF0E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626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B7D2-991F-479D-A210-CA4ACA4B578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3EC18-EB0B-4C6A-AEF6-C3898BF0E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424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B7D2-991F-479D-A210-CA4ACA4B578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3EC18-EB0B-4C6A-AEF6-C3898BF0E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05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B7D2-991F-479D-A210-CA4ACA4B578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3EC18-EB0B-4C6A-AEF6-C3898BF0E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09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B7D2-991F-479D-A210-CA4ACA4B578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3EC18-EB0B-4C6A-AEF6-C3898BF0E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043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B7D2-991F-479D-A210-CA4ACA4B578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3EC18-EB0B-4C6A-AEF6-C3898BF0E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85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B7D2-991F-479D-A210-CA4ACA4B578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3EC18-EB0B-4C6A-AEF6-C3898BF0E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05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B7D2-991F-479D-A210-CA4ACA4B578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3EC18-EB0B-4C6A-AEF6-C3898BF0E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314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4F7FC"/>
            </a:gs>
            <a:gs pos="100000">
              <a:srgbClr val="E8EEF7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DB7D2-991F-479D-A210-CA4ACA4B578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3EC18-EB0B-4C6A-AEF6-C3898BF0EA0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001" name="LeftAccentBar"/>
          <p:cNvSpPr/>
          <p:nvPr userDrawn="1"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0B1E3F"/>
              </a:gs>
              <a:gs pos="100000">
                <a:srgbClr val="1E78C8"/>
              </a:gs>
            </a:gsLst>
            <a:lin ang="540000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02" name="BottomBar"/>
          <p:cNvSpPr/>
          <p:nvPr userDrawn="1"/>
        </p:nvSpPr>
        <p:spPr>
          <a:xfrm>
            <a:off x="76200" y="6781800"/>
            <a:ext cx="12116400" cy="76200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03" name="CornerAccent"/>
          <p:cNvSpPr/>
          <p:nvPr userDrawn="1"/>
        </p:nvSpPr>
        <p:spPr>
          <a:xfrm>
            <a:off x="11506200" y="6629400"/>
            <a:ext cx="68580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547812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355130" y="1073477"/>
            <a:ext cx="7620000" cy="1238250"/>
          </a:xfrm>
        </p:spPr>
        <p:txBody>
          <a:bodyPr wrap="square" lIns="91440" tIns="45720" rIns="91440" bIns="45720" anchor="ctr" anchorCtr="1">
            <a:normAutofit/>
          </a:bodyPr>
          <a:lstStyle/>
          <a:p>
            <a:pPr algn="l"/>
            <a:r>
              <a:rPr lang="en-US" altLang="ko-KR" sz="5400" b="1" dirty="0">
                <a:solidFill>
                  <a:srgbClr val="0B1E3F"/>
                </a:solidFill>
                <a:latin typeface="맑은 고딕"/>
              </a:rPr>
              <a:t>UI</a:t>
            </a:r>
            <a:r>
              <a:rPr lang="ko-KR" altLang="en-US" sz="5400" b="1" dirty="0">
                <a:solidFill>
                  <a:srgbClr val="0B1E3F"/>
                </a:solidFill>
                <a:latin typeface="맑은 고딕"/>
              </a:rPr>
              <a:t> 설계변경 대책회의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591558" y="4026619"/>
            <a:ext cx="9664046" cy="211023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1"/>
          <a:lstStyle/>
          <a:p>
            <a:pPr algn="ctr"/>
            <a:r>
              <a:rPr lang="ko-KR" altLang="en-US" sz="2400" b="1" dirty="0">
                <a:solidFill>
                  <a:srgbClr val="FFFFFF"/>
                </a:solidFill>
                <a:latin typeface="맑은 고딕"/>
              </a:rPr>
              <a:t>타워</a:t>
            </a:r>
            <a:r>
              <a:rPr lang="en-US" altLang="ko-KR" sz="2400" b="1" dirty="0">
                <a:solidFill>
                  <a:srgbClr val="FFFFFF"/>
                </a:solidFill>
                <a:latin typeface="맑은 고딕"/>
              </a:rPr>
              <a:t>/</a:t>
            </a:r>
            <a:r>
              <a:rPr lang="ko-KR" altLang="en-US" sz="2400" b="1" dirty="0">
                <a:solidFill>
                  <a:srgbClr val="FFFFFF"/>
                </a:solidFill>
                <a:latin typeface="맑은 고딕"/>
              </a:rPr>
              <a:t>지상 </a:t>
            </a:r>
            <a:r>
              <a:rPr lang="ko-KR" altLang="en-US" sz="2400" b="1" dirty="0" err="1">
                <a:solidFill>
                  <a:srgbClr val="FFFFFF"/>
                </a:solidFill>
                <a:latin typeface="맑은 고딕"/>
              </a:rPr>
              <a:t>콘솔데스크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496532" y="2619767"/>
            <a:ext cx="2438400" cy="1238250"/>
          </a:xfrm>
          <a:prstGeom prst="rect">
            <a:avLst/>
          </a:prstGeom>
          <a:gradFill>
            <a:gsLst>
              <a:gs pos="0">
                <a:srgbClr val="1E78C8"/>
              </a:gs>
              <a:gs pos="100000">
                <a:srgbClr val="00B4D8"/>
              </a:gs>
            </a:gsLst>
            <a:lin ang="0" scaled="1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1"/>
          <a:lstStyle/>
          <a:p>
            <a:pPr algn="ctr"/>
            <a:r>
              <a:rPr lang="ko-KR" altLang="en-US" sz="1800" b="1" dirty="0">
                <a:solidFill>
                  <a:srgbClr val="FFFFFF"/>
                </a:solidFill>
                <a:latin typeface="맑은 고딕"/>
              </a:rPr>
              <a:t>모니터</a:t>
            </a:r>
            <a:r>
              <a:rPr lang="en-US" altLang="ko-KR" sz="1800" b="1" dirty="0">
                <a:solidFill>
                  <a:srgbClr val="FFFFFF"/>
                </a:solidFill>
                <a:latin typeface="맑은 고딕"/>
              </a:rPr>
              <a:t>1</a:t>
            </a:r>
          </a:p>
          <a:p>
            <a:pPr algn="ctr"/>
            <a:r>
              <a:rPr lang="en-US" altLang="ko-KR" sz="1400" dirty="0">
                <a:solidFill>
                  <a:srgbClr val="FFFFFF"/>
                </a:solidFill>
                <a:latin typeface="맑은 고딕"/>
              </a:rPr>
              <a:t>(</a:t>
            </a:r>
            <a:r>
              <a:rPr lang="ko-KR" altLang="en-US" sz="1400" dirty="0">
                <a:solidFill>
                  <a:srgbClr val="FFFFFF"/>
                </a:solidFill>
                <a:latin typeface="맑은 고딕"/>
              </a:rPr>
              <a:t>감시장비 </a:t>
            </a:r>
            <a:r>
              <a:rPr lang="ko-KR" altLang="en-US" sz="1400" dirty="0" err="1">
                <a:solidFill>
                  <a:srgbClr val="FFFFFF"/>
                </a:solidFill>
                <a:latin typeface="맑은 고딕"/>
              </a:rPr>
              <a:t>연계장치</a:t>
            </a:r>
            <a:r>
              <a:rPr lang="en-US" altLang="ko-KR" sz="1400" dirty="0">
                <a:solidFill>
                  <a:srgbClr val="FFFFFF"/>
                </a:solidFill>
                <a:latin typeface="맑은 고딕"/>
              </a:rPr>
              <a:t>)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087332" y="2619767"/>
            <a:ext cx="2438400" cy="1238250"/>
          </a:xfrm>
          <a:prstGeom prst="rect">
            <a:avLst/>
          </a:prstGeom>
          <a:gradFill>
            <a:gsLst>
              <a:gs pos="0">
                <a:srgbClr val="1E78C8"/>
              </a:gs>
              <a:gs pos="100000">
                <a:srgbClr val="00B4D8"/>
              </a:gs>
            </a:gsLst>
            <a:lin ang="0" scaled="1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1"/>
          <a:lstStyle/>
          <a:p>
            <a:pPr algn="ctr"/>
            <a:r>
              <a:rPr lang="ko-KR" altLang="en-US" sz="1800" b="1" dirty="0">
                <a:solidFill>
                  <a:srgbClr val="FFFFFF"/>
                </a:solidFill>
                <a:latin typeface="맑은 고딕"/>
              </a:rPr>
              <a:t>모니터</a:t>
            </a:r>
            <a:r>
              <a:rPr lang="en-US" altLang="ko-KR" sz="1800" b="1" dirty="0">
                <a:solidFill>
                  <a:srgbClr val="FFFFFF"/>
                </a:solidFill>
                <a:latin typeface="맑은 고딕"/>
              </a:rPr>
              <a:t>2</a:t>
            </a:r>
          </a:p>
          <a:p>
            <a:pPr algn="ctr"/>
            <a:r>
              <a:rPr lang="en-US" altLang="ko-KR" sz="1400" dirty="0">
                <a:solidFill>
                  <a:srgbClr val="FFFFFF"/>
                </a:solidFill>
                <a:latin typeface="맑은 고딕"/>
              </a:rPr>
              <a:t>(</a:t>
            </a:r>
            <a:r>
              <a:rPr lang="ko-KR" altLang="en-US" sz="1400" dirty="0">
                <a:solidFill>
                  <a:srgbClr val="FFFFFF"/>
                </a:solidFill>
                <a:latin typeface="맑은 고딕"/>
              </a:rPr>
              <a:t>통합통제장치</a:t>
            </a:r>
            <a:r>
              <a:rPr lang="en-US" altLang="ko-KR" sz="1400" dirty="0">
                <a:solidFill>
                  <a:srgbClr val="FFFFFF"/>
                </a:solidFill>
                <a:latin typeface="맑은 고딕"/>
              </a:rPr>
              <a:t>)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7678132" y="2619767"/>
            <a:ext cx="2438400" cy="1238250"/>
          </a:xfrm>
          <a:prstGeom prst="rect">
            <a:avLst/>
          </a:prstGeom>
          <a:gradFill>
            <a:gsLst>
              <a:gs pos="0">
                <a:srgbClr val="1E78C8"/>
              </a:gs>
              <a:gs pos="100000">
                <a:srgbClr val="00B4D8"/>
              </a:gs>
            </a:gsLst>
            <a:lin ang="0" scaled="1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1"/>
          <a:lstStyle/>
          <a:p>
            <a:pPr algn="ctr"/>
            <a:r>
              <a:rPr lang="ko-KR" altLang="en-US" sz="1800" b="1" dirty="0">
                <a:solidFill>
                  <a:srgbClr val="FFFFFF"/>
                </a:solidFill>
                <a:latin typeface="맑은 고딕"/>
              </a:rPr>
              <a:t>모니터</a:t>
            </a:r>
            <a:r>
              <a:rPr lang="en-US" altLang="ko-KR" sz="1800" b="1" dirty="0">
                <a:solidFill>
                  <a:srgbClr val="FFFFFF"/>
                </a:solidFill>
                <a:latin typeface="맑은 고딕"/>
              </a:rPr>
              <a:t>3</a:t>
            </a:r>
          </a:p>
          <a:p>
            <a:pPr algn="ctr"/>
            <a:r>
              <a:rPr lang="en-US" altLang="ko-KR" sz="1400" dirty="0">
                <a:solidFill>
                  <a:srgbClr val="FFFFFF"/>
                </a:solidFill>
                <a:latin typeface="맑은 고딕"/>
              </a:rPr>
              <a:t>(</a:t>
            </a:r>
            <a:r>
              <a:rPr lang="ko-KR" altLang="en-US" sz="1400" dirty="0">
                <a:solidFill>
                  <a:srgbClr val="FFFFFF"/>
                </a:solidFill>
                <a:latin typeface="맑은 고딕"/>
              </a:rPr>
              <a:t>타워</a:t>
            </a:r>
            <a:r>
              <a:rPr lang="en-US" altLang="ko-KR" sz="1400" dirty="0">
                <a:solidFill>
                  <a:srgbClr val="FFFFFF"/>
                </a:solidFill>
                <a:latin typeface="맑은 고딕"/>
              </a:rPr>
              <a:t>/</a:t>
            </a:r>
            <a:r>
              <a:rPr lang="ko-KR" altLang="en-US" sz="1400" dirty="0">
                <a:solidFill>
                  <a:srgbClr val="FFFFFF"/>
                </a:solidFill>
                <a:latin typeface="맑은 고딕"/>
              </a:rPr>
              <a:t>지상 통제장치</a:t>
            </a:r>
            <a:r>
              <a:rPr lang="en-US" altLang="ko-KR" sz="1400" dirty="0">
                <a:solidFill>
                  <a:srgbClr val="FFFFFF"/>
                </a:solidFill>
                <a:latin typeface="맑은 고딕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97755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76249" y="904874"/>
            <a:ext cx="11524073" cy="5667375"/>
          </a:xfrm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ko-KR" altLang="en-US" b="1" dirty="0">
                <a:solidFill>
                  <a:srgbClr val="0B1E3F"/>
                </a:solidFill>
                <a:latin typeface="맑은 고딕"/>
              </a:rPr>
              <a:t>모니터 구성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b="1" dirty="0">
                <a:solidFill>
                  <a:srgbClr val="0B1E3F"/>
                </a:solidFill>
                <a:latin typeface="맑은 고딕"/>
              </a:rPr>
              <a:t>통합통제장치 모니터 </a:t>
            </a:r>
            <a:r>
              <a:rPr lang="en-US" altLang="ko-KR" b="1" dirty="0">
                <a:solidFill>
                  <a:srgbClr val="0B1E3F"/>
                </a:solidFill>
                <a:latin typeface="맑은 고딕"/>
              </a:rPr>
              <a:t>1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개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(2D) –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데이터 융합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(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설정파일 활성화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)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b="1" dirty="0">
                <a:solidFill>
                  <a:srgbClr val="0B1E3F"/>
                </a:solidFill>
                <a:latin typeface="맑은 고딕"/>
              </a:rPr>
              <a:t>타워통제장치 모니터 </a:t>
            </a:r>
            <a:r>
              <a:rPr lang="en-US" altLang="ko-KR" b="1" dirty="0">
                <a:solidFill>
                  <a:srgbClr val="0B1E3F"/>
                </a:solidFill>
                <a:latin typeface="맑은 고딕"/>
              </a:rPr>
              <a:t>1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개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(3D) –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데이터 융합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(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설정파일 비활성화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)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b="1" dirty="0">
                <a:solidFill>
                  <a:srgbClr val="0B1E3F"/>
                </a:solidFill>
                <a:latin typeface="맑은 고딕"/>
              </a:rPr>
              <a:t>지상통제장치 모니터 </a:t>
            </a:r>
            <a:r>
              <a:rPr lang="en-US" altLang="ko-KR" b="1" dirty="0">
                <a:solidFill>
                  <a:srgbClr val="0B1E3F"/>
                </a:solidFill>
                <a:latin typeface="맑은 고딕"/>
              </a:rPr>
              <a:t>1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개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(3D) –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데이터 융합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(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설정파일 비활성화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)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b="1" dirty="0">
                <a:solidFill>
                  <a:srgbClr val="0B1E3F"/>
                </a:solidFill>
                <a:latin typeface="맑은 고딕"/>
              </a:rPr>
              <a:t>감시장비 연계장치 모니터 </a:t>
            </a:r>
            <a:r>
              <a:rPr lang="en-US" altLang="ko-KR" b="1" dirty="0">
                <a:solidFill>
                  <a:srgbClr val="0B1E3F"/>
                </a:solidFill>
                <a:latin typeface="맑은 고딕"/>
              </a:rPr>
              <a:t>1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개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– 32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인치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4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분할 모니터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(EOIR #1, EOIR #2,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주파수 스캐너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, ADS-B)</a:t>
            </a:r>
          </a:p>
          <a:p>
            <a:pPr marL="571500" lvl="1" indent="-228600" algn="l">
              <a:lnSpc>
                <a:spcPct val="115000"/>
              </a:lnSpc>
              <a:spcBef>
                <a:spcPts val="100"/>
              </a:spcBef>
              <a:buClr>
                <a:srgbClr val="00B4D8"/>
              </a:buClr>
              <a:buFont typeface="Arial" pitchFamily="34" charset="0"/>
              <a:buChar char="–"/>
            </a:pPr>
            <a:r>
              <a:rPr lang="en-US" altLang="ko-KR" sz="2400" dirty="0">
                <a:solidFill>
                  <a:srgbClr val="1A2B47"/>
                </a:solidFill>
                <a:latin typeface="맑은 고딕"/>
              </a:rPr>
              <a:t>RF</a:t>
            </a:r>
            <a:r>
              <a:rPr lang="ko-KR" altLang="en-US" sz="2400" dirty="0">
                <a:solidFill>
                  <a:srgbClr val="1A2B47"/>
                </a:solidFill>
                <a:latin typeface="맑은 고딕"/>
              </a:rPr>
              <a:t>레이더는 화면 제공이 없음 </a:t>
            </a:r>
            <a:r>
              <a:rPr lang="en-US" altLang="ko-KR" sz="2400" dirty="0">
                <a:solidFill>
                  <a:srgbClr val="1A2B47"/>
                </a:solidFill>
                <a:latin typeface="맑은 고딕"/>
              </a:rPr>
              <a:t>(</a:t>
            </a:r>
            <a:r>
              <a:rPr lang="ko-KR" altLang="en-US" sz="2400" dirty="0">
                <a:solidFill>
                  <a:srgbClr val="1A2B47"/>
                </a:solidFill>
                <a:latin typeface="맑은 고딕"/>
              </a:rPr>
              <a:t>개발자 디버깅 화면</a:t>
            </a:r>
            <a:r>
              <a:rPr lang="en-US" altLang="ko-KR" sz="2400" dirty="0">
                <a:solidFill>
                  <a:srgbClr val="1A2B47"/>
                </a:solidFill>
                <a:latin typeface="맑은 고딕"/>
              </a:rPr>
              <a:t>)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200"/>
              </a:spcAft>
              <a:buNone/>
            </a:pPr>
            <a:endParaRPr lang="en-US" altLang="ko-KR" b="1" dirty="0">
              <a:solidFill>
                <a:srgbClr val="0B1E3F"/>
              </a:solidFill>
              <a:latin typeface="맑은 고딕"/>
            </a:endParaRP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ko-KR" altLang="en-US" b="1" dirty="0">
                <a:solidFill>
                  <a:srgbClr val="0B1E3F"/>
                </a:solidFill>
                <a:latin typeface="맑은 고딕"/>
              </a:rPr>
              <a:t>장치 역할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b="1" dirty="0">
                <a:solidFill>
                  <a:srgbClr val="0B1E3F"/>
                </a:solidFill>
                <a:latin typeface="맑은 고딕"/>
              </a:rPr>
              <a:t>통합통제장치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 :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데이터 입력 기능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+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화면 출력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b="1" dirty="0">
                <a:solidFill>
                  <a:srgbClr val="0B1E3F"/>
                </a:solidFill>
                <a:latin typeface="맑은 고딕"/>
              </a:rPr>
              <a:t>타워</a:t>
            </a:r>
            <a:r>
              <a:rPr lang="en-US" altLang="ko-KR" b="1" dirty="0">
                <a:solidFill>
                  <a:srgbClr val="0B1E3F"/>
                </a:solidFill>
                <a:latin typeface="맑은 고딕"/>
              </a:rPr>
              <a:t>/</a:t>
            </a:r>
            <a:r>
              <a:rPr lang="ko-KR" altLang="en-US" b="1" dirty="0">
                <a:solidFill>
                  <a:srgbClr val="0B1E3F"/>
                </a:solidFill>
                <a:latin typeface="맑은 고딕"/>
              </a:rPr>
              <a:t>지상통제장치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 :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화면 출력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b="1" dirty="0">
                <a:solidFill>
                  <a:srgbClr val="0B1E3F"/>
                </a:solidFill>
                <a:latin typeface="맑은 고딕"/>
              </a:rPr>
              <a:t>타워</a:t>
            </a:r>
            <a:r>
              <a:rPr lang="en-US" altLang="ko-KR" b="1" dirty="0">
                <a:solidFill>
                  <a:srgbClr val="0B1E3F"/>
                </a:solidFill>
                <a:latin typeface="맑은 고딕"/>
              </a:rPr>
              <a:t>/</a:t>
            </a:r>
            <a:r>
              <a:rPr lang="ko-KR" altLang="en-US" b="1" dirty="0">
                <a:solidFill>
                  <a:srgbClr val="0B1E3F"/>
                </a:solidFill>
                <a:latin typeface="맑은 고딕"/>
              </a:rPr>
              <a:t>지상 운용저장장치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 : DB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및 파일 저장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+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백업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(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쓰기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ONLY)</a:t>
            </a:r>
          </a:p>
        </p:txBody>
      </p:sp>
      <p:sp>
        <p:nvSpPr>
          <p:cNvPr id="8001" name="HeaderBar"/>
          <p:cNvSpPr/>
          <p:nvPr/>
        </p:nvSpPr>
        <p:spPr>
          <a:xfrm>
            <a:off x="476250" y="285750"/>
            <a:ext cx="8286750" cy="476250"/>
          </a:xfrm>
          <a:prstGeom prst="rect">
            <a:avLst/>
          </a:prstGeom>
          <a:gradFill>
            <a:gsLst>
              <a:gs pos="0">
                <a:srgbClr val="0B1E3F"/>
              </a:gs>
              <a:gs pos="100000">
                <a:srgbClr val="1E78C8"/>
              </a:gs>
            </a:gsLst>
            <a:lin ang="0" scaled="1"/>
          </a:gradFill>
          <a:ln w="0">
            <a:noFill/>
          </a:ln>
        </p:spPr>
        <p:txBody>
          <a:bodyPr wrap="square" lIns="180000" tIns="45720" rIns="91440" bIns="45720" anchor="ctr"/>
          <a:lstStyle/>
          <a:p>
            <a:pPr algn="l"/>
            <a:r>
              <a:rPr lang="ko-KR" altLang="en-US" sz="2000" b="1" dirty="0">
                <a:solidFill>
                  <a:srgbClr val="FFFFFF"/>
                </a:solidFill>
                <a:latin typeface="맑은 고딕"/>
              </a:rPr>
              <a:t>타워/지상 콘솔데스크 구성</a:t>
            </a:r>
          </a:p>
        </p:txBody>
      </p:sp>
    </p:spTree>
    <p:extLst>
      <p:ext uri="{BB962C8B-B14F-4D97-AF65-F5344CB8AC3E}">
        <p14:creationId xmlns:p14="http://schemas.microsoft.com/office/powerpoint/2010/main" val="930951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76250" y="904875"/>
            <a:ext cx="11241268" cy="5552486"/>
          </a:xfrm>
        </p:spPr>
        <p:txBody>
          <a:bodyPr wrap="square" lIns="91440" tIns="45720" rIns="91440" bIns="45720" anchor="t">
            <a:noAutofit/>
          </a:bodyPr>
          <a:lstStyle/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en-US" altLang="ko-KR" b="1" dirty="0">
                <a:solidFill>
                  <a:srgbClr val="1A2B47"/>
                </a:solidFill>
                <a:latin typeface="맑은 고딕"/>
              </a:rPr>
              <a:t>2D </a:t>
            </a:r>
            <a:r>
              <a:rPr lang="ko-KR" altLang="en-US" b="1" dirty="0">
                <a:solidFill>
                  <a:srgbClr val="1A2B47"/>
                </a:solidFill>
                <a:latin typeface="맑은 고딕"/>
              </a:rPr>
              <a:t>화면 </a:t>
            </a:r>
            <a:r>
              <a:rPr lang="en-US" altLang="ko-KR" b="1" dirty="0">
                <a:solidFill>
                  <a:srgbClr val="1A2B47"/>
                </a:solidFill>
                <a:latin typeface="맑은 고딕"/>
              </a:rPr>
              <a:t>+ </a:t>
            </a:r>
            <a:r>
              <a:rPr lang="ko-KR" altLang="en-US" b="1" dirty="0">
                <a:solidFill>
                  <a:srgbClr val="0B1E3F"/>
                </a:solidFill>
                <a:latin typeface="맑은 고딕"/>
              </a:rPr>
              <a:t>팝업창 구조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팝업창은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1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단계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, 2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단계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, 3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단계 확대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/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축소 크기로 나뉨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팝업창 확대 시 다른 팝업창대비 가장 위에 위치하게 되며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,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확대창은 한번에 하나만 가능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/>
            </a:r>
            <a:br>
              <a:rPr lang="en-US" altLang="ko-KR" dirty="0">
                <a:solidFill>
                  <a:srgbClr val="1A2B47"/>
                </a:solidFill>
                <a:latin typeface="맑은 고딕"/>
              </a:rPr>
            </a:b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(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여러창 동시에 확대 불가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)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모든 입력 기능은 팝업창을 통해서 입력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모든 데이터 확인도 팝업창을 통해서 확인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(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메인 화면은 라이브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/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재생 지도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ONLY)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설정파일을 통해 데이터 융합 여부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ON/OFF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설정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백엔드와 프론트엔드로 구성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왼쪽 사이드바에 팝업창 띄우는 구조는 항목유형에 따라 구분선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팝업 최대 전시 개수는 설정파일에서 설정할 수 있게하고 기본값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6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개</a:t>
            </a:r>
          </a:p>
        </p:txBody>
      </p:sp>
      <p:sp>
        <p:nvSpPr>
          <p:cNvPr id="8001" name="HeaderBar"/>
          <p:cNvSpPr/>
          <p:nvPr/>
        </p:nvSpPr>
        <p:spPr>
          <a:xfrm>
            <a:off x="476250" y="285750"/>
            <a:ext cx="8286750" cy="476250"/>
          </a:xfrm>
          <a:prstGeom prst="rect">
            <a:avLst/>
          </a:prstGeom>
          <a:gradFill>
            <a:gsLst>
              <a:gs pos="0">
                <a:srgbClr val="0B1E3F"/>
              </a:gs>
              <a:gs pos="100000">
                <a:srgbClr val="1E78C8"/>
              </a:gs>
            </a:gsLst>
            <a:lin ang="0" scaled="1"/>
          </a:gradFill>
          <a:ln w="0">
            <a:noFill/>
          </a:ln>
        </p:spPr>
        <p:txBody>
          <a:bodyPr wrap="square" lIns="180000" tIns="45720" rIns="91440" bIns="45720" anchor="ctr"/>
          <a:lstStyle/>
          <a:p>
            <a:pPr algn="l"/>
            <a:r>
              <a:rPr lang="ko-KR" altLang="en-US" sz="2000" b="1" dirty="0">
                <a:solidFill>
                  <a:srgbClr val="FFFFFF"/>
                </a:solidFill>
                <a:latin typeface="맑은 고딕"/>
              </a:rPr>
              <a:t>통합통제장치</a:t>
            </a:r>
          </a:p>
        </p:txBody>
      </p:sp>
    </p:spTree>
    <p:extLst>
      <p:ext uri="{BB962C8B-B14F-4D97-AF65-F5344CB8AC3E}">
        <p14:creationId xmlns:p14="http://schemas.microsoft.com/office/powerpoint/2010/main" val="1662894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76250" y="904874"/>
            <a:ext cx="11715750" cy="5667375"/>
          </a:xfrm>
        </p:spPr>
        <p:txBody>
          <a:bodyPr wrap="square" lIns="91440" tIns="45720" rIns="91440" bIns="45720" anchor="t">
            <a:noAutofit/>
          </a:bodyPr>
          <a:lstStyle/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en-US" altLang="ko-KR" b="1" dirty="0">
                <a:solidFill>
                  <a:srgbClr val="1A2B47"/>
                </a:solidFill>
                <a:latin typeface="맑은 고딕"/>
              </a:rPr>
              <a:t>3D </a:t>
            </a:r>
            <a:r>
              <a:rPr lang="ko-KR" altLang="en-US" b="1" dirty="0">
                <a:solidFill>
                  <a:srgbClr val="1A2B47"/>
                </a:solidFill>
                <a:latin typeface="맑은 고딕"/>
              </a:rPr>
              <a:t>화면 </a:t>
            </a:r>
            <a:r>
              <a:rPr lang="en-US" altLang="ko-KR" b="1" dirty="0">
                <a:solidFill>
                  <a:srgbClr val="1A2B47"/>
                </a:solidFill>
                <a:latin typeface="맑은 고딕"/>
              </a:rPr>
              <a:t>+ </a:t>
            </a:r>
            <a:r>
              <a:rPr lang="ko-KR" altLang="en-US" b="1" dirty="0">
                <a:solidFill>
                  <a:srgbClr val="0B1E3F"/>
                </a:solidFill>
                <a:latin typeface="맑은 고딕"/>
              </a:rPr>
              <a:t>팝업창 구조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데이터 입력에 대한 기능은 없고 팝업창 띄우고 없애는 기능만 구현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팝업창 확대 시 다른 팝업창대비 가장 위에 위치하게 되며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,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확대창은 한번에 하나만 가능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/>
            </a:r>
            <a:br>
              <a:rPr lang="en-US" altLang="ko-KR" dirty="0">
                <a:solidFill>
                  <a:srgbClr val="1A2B47"/>
                </a:solidFill>
                <a:latin typeface="맑은 고딕"/>
              </a:rPr>
            </a:b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(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여러창 동시에 확대 불가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)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데이터 확인은 통합통제장치에서 할 수 있는 기능들을 그대로 놓고 팝업창을 통해서 보여주되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,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데이터 입력만 불가능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설정파일을 통해 데이터 융합 여부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ON/OFF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설정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(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데이터 중복 융합 방지를 위해 통합통제장치로부터 융합 데이터를 받았을때는 자동으로 비활성화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)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백엔드와 프론트엔드로 구성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왼쪽 사이드바에 팝업창 띄우는 구조는 항목유형에 따라 구분선</a:t>
            </a:r>
          </a:p>
          <a:p>
            <a:pPr marL="285750" indent="-285750" algn="l">
              <a:lnSpc>
                <a:spcPct val="120000"/>
              </a:lnSpc>
              <a:spcBef>
                <a:spcPts val="20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팝업 최대 전시 개수는 설정파일에서 설정할 수 있게하고 기본값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6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개</a:t>
            </a:r>
          </a:p>
        </p:txBody>
      </p:sp>
      <p:sp>
        <p:nvSpPr>
          <p:cNvPr id="8001" name="HeaderBar"/>
          <p:cNvSpPr/>
          <p:nvPr/>
        </p:nvSpPr>
        <p:spPr>
          <a:xfrm>
            <a:off x="476250" y="285750"/>
            <a:ext cx="8286750" cy="476250"/>
          </a:xfrm>
          <a:prstGeom prst="rect">
            <a:avLst/>
          </a:prstGeom>
          <a:gradFill>
            <a:gsLst>
              <a:gs pos="0">
                <a:srgbClr val="0B1E3F"/>
              </a:gs>
              <a:gs pos="100000">
                <a:srgbClr val="1E78C8"/>
              </a:gs>
            </a:gsLst>
            <a:lin ang="0" scaled="1"/>
          </a:gradFill>
          <a:ln w="0">
            <a:noFill/>
          </a:ln>
        </p:spPr>
        <p:txBody>
          <a:bodyPr wrap="square" lIns="180000" tIns="45720" rIns="91440" bIns="45720" anchor="ctr"/>
          <a:lstStyle/>
          <a:p>
            <a:pPr algn="l"/>
            <a:r>
              <a:rPr lang="ko-KR" altLang="en-US" sz="2000" b="1" dirty="0">
                <a:solidFill>
                  <a:srgbClr val="FFFFFF"/>
                </a:solidFill>
                <a:latin typeface="맑은 고딕"/>
              </a:rPr>
              <a:t>타워/지상통제장치</a:t>
            </a:r>
          </a:p>
        </p:txBody>
      </p:sp>
    </p:spTree>
    <p:extLst>
      <p:ext uri="{BB962C8B-B14F-4D97-AF65-F5344CB8AC3E}">
        <p14:creationId xmlns:p14="http://schemas.microsoft.com/office/powerpoint/2010/main" val="3801867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76249" y="904874"/>
            <a:ext cx="11533499" cy="5571339"/>
          </a:xfrm>
        </p:spPr>
        <p:txBody>
          <a:bodyPr wrap="square" lIns="91440" tIns="45720" rIns="91440" bIns="45720" anchor="t">
            <a:normAutofit/>
          </a:bodyPr>
          <a:lstStyle/>
          <a:p>
            <a:pPr marL="285750" indent="-285750" algn="l">
              <a:lnSpc>
                <a:spcPct val="115000"/>
              </a:lnSpc>
              <a:spcBef>
                <a:spcPts val="15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데이터를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DB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및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NAS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에 저장하기 위한 용도</a:t>
            </a:r>
          </a:p>
          <a:p>
            <a:pPr marL="285750" indent="-285750" algn="l">
              <a:lnSpc>
                <a:spcPct val="115000"/>
              </a:lnSpc>
              <a:spcBef>
                <a:spcPts val="15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감시장비 및 감시장비 연계장치의 데이터는 네트워크를 통해 직접 받으며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DB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및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NAS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에 저장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(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통합통제장치가 없어도 동작할 수 있어야함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)</a:t>
            </a:r>
          </a:p>
          <a:p>
            <a:pPr marL="285750" indent="-285750" algn="l">
              <a:lnSpc>
                <a:spcPct val="115000"/>
              </a:lnSpc>
              <a:spcBef>
                <a:spcPts val="15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백엔드로만 구성</a:t>
            </a:r>
          </a:p>
          <a:p>
            <a:pPr marL="285750" indent="-285750" algn="l">
              <a:lnSpc>
                <a:spcPct val="115000"/>
              </a:lnSpc>
              <a:spcBef>
                <a:spcPts val="15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NAS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와 상시구동</a:t>
            </a:r>
          </a:p>
          <a:p>
            <a:pPr marL="285750" indent="-285750" algn="l">
              <a:lnSpc>
                <a:spcPct val="115000"/>
              </a:lnSpc>
              <a:spcBef>
                <a:spcPts val="15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NAS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에는 파일데이터를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,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운용장치에는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DB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를 설치</a:t>
            </a:r>
          </a:p>
          <a:p>
            <a:pPr marL="285750" indent="-285750" algn="l">
              <a:lnSpc>
                <a:spcPct val="115000"/>
              </a:lnSpc>
              <a:spcBef>
                <a:spcPts val="15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테이블 및 폴더명 기반으로 구분하여 타워와 지상의 테이블명 및 공유폴더명을 별도로 관리</a:t>
            </a:r>
          </a:p>
          <a:p>
            <a:pPr marL="285750" indent="-285750" algn="l">
              <a:lnSpc>
                <a:spcPct val="115000"/>
              </a:lnSpc>
              <a:spcBef>
                <a:spcPts val="150"/>
              </a:spcBef>
              <a:buClr>
                <a:srgbClr val="1E78C8"/>
              </a:buClr>
              <a:buFont typeface="Arial" pitchFamily="34" charset="0"/>
              <a:buChar char="▪"/>
            </a:pP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타워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/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지상은 각각 데이터를 저장하되 타워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NAS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와 지상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NAS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는 주기적으로 파일을 서로 백업한다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.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이때 타워의 폴더는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main_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로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,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지상의 폴더는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sub_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로 이름을 명명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.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타워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/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지상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NAS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는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main_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폴더와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sub_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폴더를 모두 저장 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(DB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도 서로 다른 테이블에 저장하고 백업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, </a:t>
            </a:r>
            <a:r>
              <a:rPr lang="ko-KR" altLang="en-US" dirty="0">
                <a:solidFill>
                  <a:srgbClr val="1A2B47"/>
                </a:solidFill>
                <a:latin typeface="맑은 고딕"/>
              </a:rPr>
              <a:t>운용저장장치 고장 시 설정파일 변경으로 즉시 운용 가능</a:t>
            </a:r>
            <a:r>
              <a:rPr lang="en-US" altLang="ko-KR" dirty="0">
                <a:solidFill>
                  <a:srgbClr val="1A2B47"/>
                </a:solidFill>
                <a:latin typeface="맑은 고딕"/>
              </a:rPr>
              <a:t>)</a:t>
            </a:r>
          </a:p>
        </p:txBody>
      </p:sp>
      <p:sp>
        <p:nvSpPr>
          <p:cNvPr id="8001" name="HeaderBar"/>
          <p:cNvSpPr/>
          <p:nvPr/>
        </p:nvSpPr>
        <p:spPr>
          <a:xfrm>
            <a:off x="476250" y="285750"/>
            <a:ext cx="8286750" cy="476250"/>
          </a:xfrm>
          <a:prstGeom prst="rect">
            <a:avLst/>
          </a:prstGeom>
          <a:gradFill>
            <a:gsLst>
              <a:gs pos="0">
                <a:srgbClr val="0B1E3F"/>
              </a:gs>
              <a:gs pos="100000">
                <a:srgbClr val="1E78C8"/>
              </a:gs>
            </a:gsLst>
            <a:lin ang="0" scaled="1"/>
          </a:gradFill>
          <a:ln w="0">
            <a:noFill/>
          </a:ln>
        </p:spPr>
        <p:txBody>
          <a:bodyPr wrap="square" lIns="180000" tIns="45720" rIns="91440" bIns="45720" anchor="ctr"/>
          <a:lstStyle/>
          <a:p>
            <a:pPr algn="l"/>
            <a:r>
              <a:rPr lang="ko-KR" altLang="en-US" sz="2000" b="1" dirty="0">
                <a:solidFill>
                  <a:srgbClr val="FFFFFF"/>
                </a:solidFill>
                <a:latin typeface="맑은 고딕"/>
              </a:rPr>
              <a:t>타워/지상 운용저장장치</a:t>
            </a:r>
          </a:p>
        </p:txBody>
      </p:sp>
    </p:spTree>
    <p:extLst>
      <p:ext uri="{BB962C8B-B14F-4D97-AF65-F5344CB8AC3E}">
        <p14:creationId xmlns:p14="http://schemas.microsoft.com/office/powerpoint/2010/main" val="1326972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27281-9915-8FBD-1E02-B664D83B4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C36B97C1-640E-BC62-B2EB-34940A1228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0195" y="377072"/>
            <a:ext cx="11481846" cy="5976594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ko-KR" altLang="en-US" sz="2000" dirty="0" err="1"/>
              <a:t>항우연</a:t>
            </a:r>
            <a:r>
              <a:rPr lang="ko-KR" altLang="en-US" sz="2000" dirty="0"/>
              <a:t> 추가 질의사항</a:t>
            </a:r>
            <a:endParaRPr lang="en-US" altLang="ko-KR" sz="2000" dirty="0"/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2.1.1 Live</a:t>
            </a:r>
            <a:br>
              <a:rPr lang="en-US" altLang="ko-KR" sz="2000" dirty="0"/>
            </a:br>
            <a:r>
              <a:rPr lang="ko-KR" altLang="en-US" sz="2000" dirty="0" err="1"/>
              <a:t>가상항적</a:t>
            </a:r>
            <a:r>
              <a:rPr lang="ko-KR" altLang="en-US" sz="2000" dirty="0"/>
              <a:t> 다수 생성 기능 필요</a:t>
            </a:r>
            <a:endParaRPr lang="en-US" altLang="ko-KR" sz="2000" dirty="0"/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2.1.2 Replay</a:t>
            </a:r>
            <a:br>
              <a:rPr lang="en-US" altLang="ko-KR" sz="2000" dirty="0"/>
            </a:br>
            <a:r>
              <a:rPr lang="ko-KR" altLang="en-US" sz="2000" dirty="0"/>
              <a:t>화면 하단 영상 체크 박스는 </a:t>
            </a:r>
            <a:r>
              <a:rPr lang="en-US" altLang="ko-KR" sz="2000" dirty="0"/>
              <a:t>EOIR </a:t>
            </a:r>
            <a:r>
              <a:rPr lang="ko-KR" altLang="en-US" sz="2000" dirty="0"/>
              <a:t>카메라 영상을 의미하는 것인지</a:t>
            </a:r>
            <a:r>
              <a:rPr lang="en-US" altLang="ko-KR" sz="2000" dirty="0"/>
              <a:t>?</a:t>
            </a:r>
            <a:br>
              <a:rPr lang="en-US" altLang="ko-KR" sz="2000" dirty="0"/>
            </a:br>
            <a:r>
              <a:rPr lang="ko-KR" altLang="en-US" sz="2000" dirty="0"/>
              <a:t>비행</a:t>
            </a:r>
            <a:r>
              <a:rPr lang="en-US" altLang="ko-KR" sz="2000" dirty="0"/>
              <a:t>/</a:t>
            </a:r>
            <a:r>
              <a:rPr lang="ko-KR" altLang="en-US" sz="2000" dirty="0"/>
              <a:t>영상</a:t>
            </a:r>
            <a:r>
              <a:rPr lang="en-US" altLang="ko-KR" sz="2000" dirty="0"/>
              <a:t>/</a:t>
            </a:r>
            <a:r>
              <a:rPr lang="ko-KR" altLang="en-US" sz="2000" dirty="0"/>
              <a:t>음성 데이터 외에 날씨 데이터로 기록 및 </a:t>
            </a:r>
            <a:r>
              <a:rPr lang="en-US" altLang="ko-KR" sz="2000" dirty="0"/>
              <a:t>Replay </a:t>
            </a:r>
            <a:r>
              <a:rPr lang="ko-KR" altLang="en-US" sz="2000" dirty="0"/>
              <a:t>가 가능한 것인지</a:t>
            </a:r>
            <a:r>
              <a:rPr lang="en-US" altLang="ko-KR" sz="2000" dirty="0"/>
              <a:t>?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3.2 </a:t>
            </a:r>
            <a:r>
              <a:rPr lang="ko-KR" altLang="en-US" sz="2000" dirty="0"/>
              <a:t>비행계획관리</a:t>
            </a: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ko-KR" altLang="en-US" sz="2000" dirty="0"/>
              <a:t>비행시험계획 등록 후 삭제가 가능한지</a:t>
            </a:r>
            <a:r>
              <a:rPr lang="en-US" altLang="ko-KR" sz="2000" dirty="0"/>
              <a:t>?</a:t>
            </a:r>
            <a:br>
              <a:rPr lang="en-US" altLang="ko-KR" sz="2000" dirty="0"/>
            </a:br>
            <a:r>
              <a:rPr lang="ko-KR" altLang="en-US" sz="2000" dirty="0"/>
              <a:t>비행시험결과</a:t>
            </a:r>
            <a:r>
              <a:rPr lang="en-US" altLang="ko-KR" sz="2000" dirty="0"/>
              <a:t>, </a:t>
            </a:r>
            <a:r>
              <a:rPr lang="ko-KR" altLang="en-US" sz="2000" dirty="0"/>
              <a:t>항공사고 등 입력 후 어디서 조회가 가능한 것인지</a:t>
            </a:r>
            <a:r>
              <a:rPr lang="en-US" altLang="ko-KR" sz="2000" dirty="0"/>
              <a:t>?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5.4.4 </a:t>
            </a:r>
            <a:r>
              <a:rPr lang="ko-KR" altLang="en-US" sz="2000" dirty="0"/>
              <a:t>심볼 관리</a:t>
            </a: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ko-KR" altLang="en-US" sz="2000" dirty="0"/>
              <a:t>단일 장비로만 관측되면 단일 심볼</a:t>
            </a:r>
            <a:r>
              <a:rPr lang="en-US" altLang="ko-KR" sz="2000" dirty="0"/>
              <a:t>(</a:t>
            </a:r>
            <a:r>
              <a:rPr lang="ko-KR" altLang="en-US" sz="2000" dirty="0"/>
              <a:t>네모</a:t>
            </a:r>
            <a:r>
              <a:rPr lang="en-US" altLang="ko-KR" sz="2000" dirty="0"/>
              <a:t>, </a:t>
            </a:r>
            <a:r>
              <a:rPr lang="ko-KR" altLang="en-US" sz="2000" dirty="0"/>
              <a:t>세모</a:t>
            </a:r>
            <a:r>
              <a:rPr lang="en-US" altLang="ko-KR" sz="2000" dirty="0"/>
              <a:t>) </a:t>
            </a:r>
            <a:r>
              <a:rPr lang="ko-KR" altLang="en-US" sz="2000" dirty="0"/>
              <a:t>로</a:t>
            </a:r>
            <a:r>
              <a:rPr lang="en-US" altLang="ko-KR" sz="2000" dirty="0"/>
              <a:t>, </a:t>
            </a:r>
            <a:r>
              <a:rPr lang="ko-KR" altLang="en-US" sz="2000" dirty="0"/>
              <a:t>다수 장비로 관측되면</a:t>
            </a:r>
            <a:r>
              <a:rPr lang="en-US" altLang="ko-KR" sz="2000" dirty="0"/>
              <a:t>(</a:t>
            </a:r>
            <a:r>
              <a:rPr lang="ko-KR" altLang="en-US" sz="2000" dirty="0"/>
              <a:t>데이터 융합</a:t>
            </a:r>
            <a:r>
              <a:rPr lang="en-US" altLang="ko-KR" sz="2000" dirty="0"/>
              <a:t>) </a:t>
            </a:r>
            <a:r>
              <a:rPr lang="ko-KR" altLang="en-US" sz="2000" dirty="0"/>
              <a:t>원으로 </a:t>
            </a:r>
            <a:r>
              <a:rPr lang="ko-KR" altLang="en-US" sz="2000" dirty="0" err="1"/>
              <a:t>표시되는건지</a:t>
            </a:r>
            <a:r>
              <a:rPr lang="en-US" altLang="ko-KR" sz="2000" dirty="0"/>
              <a:t>? </a:t>
            </a:r>
            <a:r>
              <a:rPr lang="ko-KR" altLang="en-US" sz="2000" dirty="0"/>
              <a:t>아니면</a:t>
            </a:r>
            <a:r>
              <a:rPr lang="en-US" altLang="ko-KR" sz="2000" dirty="0"/>
              <a:t>. </a:t>
            </a:r>
            <a:r>
              <a:rPr lang="ko-KR" altLang="en-US" sz="2000" dirty="0"/>
              <a:t>단일도 표시되고 원으로도 표시되는 것인지</a:t>
            </a:r>
            <a:r>
              <a:rPr lang="en-US" altLang="ko-KR" sz="2000" dirty="0"/>
              <a:t>?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4-2 </a:t>
            </a:r>
            <a:r>
              <a:rPr lang="ko-KR" altLang="en-US" sz="2000" dirty="0"/>
              <a:t>비행상태도시 </a:t>
            </a:r>
            <a:r>
              <a:rPr lang="en-US" altLang="ko-KR" sz="2000" dirty="0"/>
              <a:t>– </a:t>
            </a:r>
            <a:r>
              <a:rPr lang="ko-KR" altLang="en-US" sz="2000" dirty="0"/>
              <a:t>상세추적</a:t>
            </a: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en-US" altLang="ko-KR" sz="2000" dirty="0"/>
              <a:t>Live </a:t>
            </a:r>
            <a:r>
              <a:rPr lang="ko-KR" altLang="en-US" sz="2000" dirty="0"/>
              <a:t>화면 등 어떤 화면에서 연동되는 것인지</a:t>
            </a:r>
            <a:r>
              <a:rPr lang="en-US" altLang="ko-KR" sz="2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62048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78457648122]">
  <a:themeElements>
    <a:clrScheme name="Office">
      <a:dk1>
        <a:srgbClr val="0B1E3F"/>
      </a:dk1>
      <a:lt1>
        <a:srgbClr val="FFFFFF"/>
      </a:lt1>
      <a:dk2>
        <a:srgbClr val="1E3A6B"/>
      </a:dk2>
      <a:lt2>
        <a:srgbClr val="E8EEF7"/>
      </a:lt2>
      <a:accent1>
        <a:srgbClr val="1E78C8"/>
      </a:accent1>
      <a:accent2>
        <a:srgbClr val="00B4D8"/>
      </a:accent2>
      <a:accent3>
        <a:srgbClr val="F4A300"/>
      </a:accent3>
      <a:accent4>
        <a:srgbClr val="E63946"/>
      </a:accent4>
      <a:accent5>
        <a:srgbClr val="6C7A92"/>
      </a:accent5>
      <a:accent6>
        <a:srgbClr val="2EC4B6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29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902D10A-6F2F-4F97-A7A3-15881C1EBCB6}">
  <we:reference id="wa200010001" version="1.0.0.1" store="ko-KR" storeType="OMEX"/>
  <we:alternateReferences>
    <we:reference id="wa200010001" version="1.0.0.1" store="" storeType="OMEX"/>
  </we:alternateReferences>
  <we:properties>
    <we:property name="claude.fileId" value="&quot;bb62973f-c4e8-4dbb-83b9-c49142f6d14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562</Words>
  <Application>Microsoft Office PowerPoint</Application>
  <PresentationFormat>와이드스크린</PresentationFormat>
  <Paragraphs>53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Wingdings</vt:lpstr>
      <vt:lpstr>Office 테마 [1778457648122]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LIG SYSTEM</dc:creator>
  <cp:lastModifiedBy>LIG SYSTEM</cp:lastModifiedBy>
  <cp:revision>83</cp:revision>
  <dcterms:created xsi:type="dcterms:W3CDTF">2026-05-10T23:05:12Z</dcterms:created>
  <dcterms:modified xsi:type="dcterms:W3CDTF">2026-05-15T07:47:08Z</dcterms:modified>
</cp:coreProperties>
</file>